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286000"/>
            <a:ext cx="914400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2011680" y="22402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057400" y="31546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— Demo deck · 19/05/2026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Atlassian-style PM cho Kiến trúc · Xây dựng — gắn chặt NĐ 06/2021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4572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OSS AI · self-host · VN-grounded · 8-layer architecture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11A30"/>
          </a:solidFill>
          <a:ln w="12700">
            <a:solidFill>
              <a:srgbClr val="111A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355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Cofico · Vinhomes · Apave · AA Corp — pilot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thực tế của PM xây dựng Việt Nam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nỗi đau hằng ngày — chưa có ai giải đúng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340" y="2103120"/>
            <a:ext cx="2651760" cy="402336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" y="2103120"/>
            <a:ext cx="73152" cy="4023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" y="23317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120tr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708660" y="3337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/tháng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8660" y="3703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Procore / ACC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08660" y="41605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Quá đắt cho công ty 50 seat tại VN, UX tiếng Anh, không tuân Luật Xây dựng 50/2014 sđ 62/2020 + NĐ 06/2021.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14700" y="2103120"/>
            <a:ext cx="2651760" cy="402336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14700" y="2103120"/>
            <a:ext cx="73152" cy="4023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89020" y="23317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0đ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3589020" y="3703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+ Zalo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589020" y="41605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Miễn phí nhưng phá mọi audit của Sở Xây dựng. Không có audit log, không có FSM transitions, mất hồ sơ là mất hợp đồng.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95060" y="2103120"/>
            <a:ext cx="2651760" cy="402336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5060" y="2103120"/>
            <a:ext cx="73152" cy="402336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69380" y="23317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 AEC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6469380" y="3703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 / Base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69380" y="41605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generic — không biết RFI / Submittal / NCR / BBNT là gì. Không tích hợp BIM. Không TCVN / QCVN library.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75420" y="2103120"/>
            <a:ext cx="2651760" cy="402336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75420" y="2103120"/>
            <a:ext cx="73152" cy="4023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49740" y="23317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9349740" y="37033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hoàn công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349740" y="41605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Lắp bằng tay, 2–4 tuần / dự án. Chữ ký số rời. NĐ 15/2021 Phụ lục I không có ai check tự động.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 tấn công đúng 4 nỗi đau này — bằng một codebase, một stack OSS, gắn chặt luật VN.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8 lớp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dưới ổn định ⇒ tầng trên di chuyển nhanh. v2 này ship Layer 1 đầy đủ + Layer 4/8 mặt người dùng.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5486400" cy="96012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057400"/>
            <a:ext cx="54864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1305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377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AEC Modules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2697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WinWork · CodeGuard · DrawBridge · SiteEye · CostPulse · ProjectPulse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3484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schema + API + UI + seed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2057400"/>
            <a:ext cx="5486400" cy="96012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057400"/>
            <a:ext cx="54864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13055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2377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Backbone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37960" y="2697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WorkflowTemplate · RecurringTask · ChatChannel · SlaBreach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195560" y="2697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schema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182112"/>
            <a:ext cx="5486400" cy="96012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182112"/>
            <a:ext cx="54864" cy="9601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25526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35021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Layer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77240" y="38221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· AgentRun · AgentMemory · escalation tiers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34840" y="3822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schema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9360" y="3182112"/>
            <a:ext cx="5486400" cy="96012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0" y="3182112"/>
            <a:ext cx="54864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325526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37960" y="35021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&amp; Trust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37960" y="38221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ModelCard · DriftSnapshot · DataLineage · BiasAudit · ExplanationRequest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195560" y="3822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schema + /trust page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48640" y="4306824"/>
            <a:ext cx="5486400" cy="96012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" y="4306824"/>
            <a:ext cx="54864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37997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7240" y="462686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VN-Native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77240" y="49469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Zalo OA · E-invoice TT 78/2021 · FengShui · CCCD OCR · LunarEvent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434840" y="49469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schema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09360" y="4306824"/>
            <a:ext cx="5486400" cy="96012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9360" y="4306824"/>
            <a:ext cx="54864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37960" y="437997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537960" y="462686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&amp; Ecosystem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37960" y="494690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ApiKey · Webhook · Connector (MISA/Base/BIM360/M365)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195560" y="49469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schema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" y="5431536"/>
            <a:ext cx="5486400" cy="96012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5431536"/>
            <a:ext cx="54864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7240" y="55046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7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77240" y="57515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Mobile / Offline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77240" y="60716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DevicePushToken · OfflineSyncOp · service-worker (planned)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434840" y="60716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schema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9360" y="5431536"/>
            <a:ext cx="5486400" cy="96012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09360" y="5431536"/>
            <a:ext cx="54864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37960" y="55046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8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537960" y="57515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/ Pricing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537960" y="60716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· Subscription · NpsResponse · Referral · TemplateListing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0195560" y="60716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schema + /pricing page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lớp shippable độc lập — UI cho P1/P2/P3 sẽ phủ tiếp ở các vertical slice kế tiếp.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Vietnamese-first UX · brute-force lockout · NextAuth sessions · password reset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01-sign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login: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anh.nguyen@cofico.vn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demo1234!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1 lần,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 6 module mới.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6 mô-đun trên top nav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WinWork · Portfolio · Trust · Giá — bên cạnh Dự án / Tổ chức gốc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02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dự án trực tiếp truy cập: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Vinhomes Grand Park S9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(1.85 nghìn tỉ HĐ)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FPT Tower Cầu Giấy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(218 tỉ HĐ)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 vào WinWork +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ngay từ header.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1.1 — WinWork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WinWork — Bidding Intelligence overview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não đấu thầu: cơ hội · hồ sơ · bảo lãnh · tuân thủ Luật ĐT 22/2023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03-winwor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tender opportunities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nguồn auto-scrape)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hồ sơ dự thầu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1 AWARDED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1 OPENED · 1 SUBMITTED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1 LOST · 2 active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1 ESTIMATING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active bonds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đã RELEASED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1.1 — WinWork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hội đấu thầu · multi-source crawl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muasamcong.mpi.gov.vn + dauthau.asia + báo đấu thầu · de-dupe theo content hash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04-winwork-tend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cơ hội · 90 ngày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gói từ 14.2 tỉ →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985 tỉ (Gamuda Yên Sở)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tỉnh/thành: HN · HCM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Hưng Yên · Bình Phước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Sơn La · Quảng Ngãi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cơ hội deep-link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về source gốc.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1.1 — WinWork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Luật ĐT 22/2023 compliance engine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quy tắc · server-side enforced · transition guard chặn nộp HSDT khi chưa đạt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06-winwork-bid-de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chạy &lt;100ms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rules đánh giá: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✓ PASS: bond Điều 14,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MST Điều 5, conflict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Điều 6, margin sanity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✗ FAIL × 2 BLOCKING: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Điều 9 (năng lực)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Điều 9 k.2 (kỹ thuật)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submit bị chặn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đến khi đính kèm.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1.2 — CodeGuard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CodeGuard · TCVN/QCVN + NĐ 15/2021 dossier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chất lượng tự động · thư viện tiêu chuẩn IN_FORCE · cập nhật khi luật thay đổi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08-codegu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19 mục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(NĐ 15/2021 Phụ lục I)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 ACCEPTED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 SUBMITTED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13 MISSING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tiêu chuẩn IN_FORCE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TCVN 5574 · 2737 · 4453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7888 · 9362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QCVN 04 · 06 · 10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NĐ 06 · 15/2021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tiêu chuẩn có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count machine-checkable.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1.3 — DrawBridge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DrawBridge · BIM clash detection chạy thật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AABB detector cross-discipline · ngày mai swap sang Forge / IfcOpenShell mà UI không đổi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09-drawbrid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BIM elements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8 clashes detected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high-severity: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Dầm B-3 × HVAC Φ400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Dầm B-3 × PCCC DN150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HVAC × PCCC nhánh 1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low-severity (sàn tiếp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xúc cấu kiện trên đó)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0-100 theo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overlap.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1.4 — SiteEye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SiteEye · CV + thời tiết + sự cố ATLĐ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detection (Qwen2.5-VL) · open-meteo live · Luật ATVSLĐ 84/2015 compliant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10-siteey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live 27.1°C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RH · 0 mm/h · 6.6 kph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open-meteo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sự cố ATLĐ ghi nhận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1 MAJOR (điện giật)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1 MINOR · 2 NEAR_MISS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vi phạm PPE chưa xử lý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(hard hat · vest · harness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boots) — từ 3 camera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1-tap incident report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 mobile.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1.5 — CostPulse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CostPulse · EVM math trên BoQ thật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 · EV · AC · CPI · SPI · EAC · VAC — pure function · swappable engine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11-costpul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  122.5 tỉ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   69.9 tỉ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   48.7 tỉ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1.44 (over-performing)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 85.3 tỉ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 37.2 tỉ projected profit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BoQ lines với % xong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Bê tông móng 96%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Cốt thép phần thân 59%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số giá vật liệu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Sở XD TP.HCM 04/2026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1.6 — ProjectPulse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ProjectPulse · 5-dim risk heatmap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Cross-project portfolio cho CEO/COO · cost · schedule · safety · quality · compliance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12-portfoli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dự án trong portfolio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1.85 nghìn tỉ HĐ tổng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1.76 nghìn tỉ lãi dự phóng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VHGP-S9 (Vinhomes):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COST LOW · CPI 1.44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COMPLIANCE HIGH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(dossier 16% xong)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FPT-CG-A1 (FPT Tower):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giai đoạn đầu, đang load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cập nhật real-time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seed thay đổi.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Trust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· public model cards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AI feature công khai model · dataset · limitation · acceptance rate · drift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13-tru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 cards published: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daily_log.transcribe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faster-whisper-medium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ncr.assess_photo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qwen2.5-vl:7b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rfi.classify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qwen2.5:7b-instruct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siteeye.ppe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qwen2.5-vl:7b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spec.embed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bge-m3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OSS · self-host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snapshots ghi nhận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siteeye.ppe DEGRADED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8 — Pricing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· self-serve 4-tier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'liên hệ tư vấn' · pay-per-AI-action tách rời per-seat · on-prem cho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14-pric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Free: 0đ + 500đ/AI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 user · 1 dự án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Site + Models + Specs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Pro: 290k + 300đ/AI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WinWork + CodeGuard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DrawBridge + SiteEye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Zalo + e-invoice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Business: 690k + 200đ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CostPulse + Portfolio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Agent + drift detection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Enterprise: báo giá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on-prem VN · ISO 27001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· Cấu kiện · vật tư · NCC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 viện chuẩn hoá cho công ty — link Submittal (vật liệu) + BoQ (giá đơn vị) · form Thêm cấu kiện mở sẵn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15-catalo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kiện chia 12 nhóm: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Bê tông · Cốt thép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Gạch đá · Xi măng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Sơn · M&amp;E · PCCC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Cửa kính · Thiết bị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CRUD: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Thêm cấu kiện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Thêm NCC (MST)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Quan hệ giá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cấu kiện có giá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· qty NCC · đơn vị.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 công — Schedule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· Tiến độ + đường găng (CPM)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Gantt-ready · AI rủi ro chậm từ daily log + thời tiết · form Thêm công việc mở sẵn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16-schedu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cấp công ty: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Tổng task · Đang thi công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Quá hạn · Đường găng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CRUD: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Thêm công việc (task)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WBS · Discipline · Zone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Plan start/end · % xong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 đánh dấu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tím — chậm 1 ngày =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chậm 1 ngày.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Pháp lý — PermitFlow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PermitFlow · Xin GPXD NĐ 15/2021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sinh checklist Phụ lục I từ profile dự án · 6 loại GPXD · form Tạo hồ sơ mở sẵn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17-permitflo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loại GPXD: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Mới · Điều chỉnh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Sửa chữa · Tạm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Hạ tầng · Thông báo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CRUD: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Tạo hồ sơ xin GPXD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Dự án · Đơn vị nộp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Cơ quan cấp (Sở XD)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Auto-checklist 8 mục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PL-I.A.1 → PL-I.A.8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(GCN đất · bản vẽ · PCCC).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Pháp lý — PCCC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PCCC · Thẩm duyệt NĐ 136/2020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QCVN 06:2022/BXD · TCVN 5738 · 3 giai đoạn từ thẩm duyệt → cấp Giấy đủ điều kiện · form mở sẵn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18-pcc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giai đoạn: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Thẩm duyệt thiết kế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Nghiệm thu PCCC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Cấp Giấy đủ điều kiện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CRUD: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Tạo hồ sơ PCCC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Cấp PC07 / C06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PC-1 → PC-8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(bản vẽ · tính nước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thuyết minh · thí nghiệm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vật liệu chống cháy).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Đấu thầu — BidRadar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BidRadar · Săn gói thầu nhà nước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muasamcong.mpi.gov.vn + dauthau.asia · alert email theo NACE · reuses TenderCreateButton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19-bidrad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cho org: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Tổng gói · Đóng 7d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Ngân sách top 30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Watchlist (sắp tới)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CRUD (reuse):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Thêm cơ hội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Bên mời · MST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Giá gói · Nguồn vốn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Tỉnh · Hình thức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Sắp đóng thầu hiện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cảnh báo vàng.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Viwase — Tab Hành chính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Hành chính · 4 widget gọn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văn · Văn bản nội bộ · Theo dõi BHXH · Điều phối xe — count + 3 entry mới nhất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20-home-hanh-chin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widget cards live: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Công văn → /stakeholders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Văn bản → /internaldocs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BHXH → /bhxh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Xe → /vehicledispatch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table phía dưới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lọc projects dept=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HANH_CHINH (2 dự án).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Viwase — Tab Tài chính kế toán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Tài chính KT · Tạm ứng + Giao khoán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AdvanceTransaction (TAM_UNG / THANH_TOAN / HOAN_UNG) · ContractorAssignment khoán gọn theo DA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21-home-tck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cards: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Tạm ứng/Thanh toán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Bảng giao khoán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ứng có parentTxnId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lineage tạm ứng gốc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quyết toán.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Viwase — Tab Phát triển thị trường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PTTT · Địa bàn + Pipeline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MarketTerritory phân vùng + ProjectLead pipeline POTENTIAL → TRACKING → WON/LOST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22-home-ptt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cards: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Địa bàn + lead count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Pipeline (Track+Pot.)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WON → có thể chuyển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Project chính thức.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Viwase — Tình hình thực hiện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Per-project drill-down · Tab 1 detail (handwritten spec)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· Nội dung công việc theo HĐ (inline-edit) · Các đơn vị thực hiện · Timeline cập nhật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23-tinh-hin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mục theo ghi chú: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Tên dự án (header)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Nội dung HĐ (textarea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inline-edit PATCH)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Đơn vị (stakeholders)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Tình hình (timeline)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ProjectNav dept-aware: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AEC tabs cho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CONG_VIEC; ẩn cho phòng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 (HANH_CHINH/TCKT/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PTTT/CONG_VIEC_KHAC).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 chính — Văn bản nội bộ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Văn bản nội bộ · Quyết định · Thông báo · Quy chế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InternalDocument · 6 category (QUYET_DINH/THONG_BAO/QUY_CHE/QUY_TRINH/BIEN_BAN/KHAC)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24-internaldoc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Tổng / QĐ / Thông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/ 30d qua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CRUD: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Thêm văn bản nội bộ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Số · Loại · Tiêu đề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Ngày BH · Nội dung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requireOrgMember chặn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cross-org write.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 chính — Theo dõi BHXH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BHXH · Sổ NLĐ tham gia bảo hiểm XH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SocialInsuranceRecord · 5 trạng thái (Đang đóng / Tạm dừng / Chờ đăng ký / Đã nghỉ / Khác)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25-bhx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Tổng / Đang đóng /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Chờ ĐK / Mức/tháng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CRUD: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Thêm bản ghi BHXH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Họ tên · CCCD · Số sổ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Mức đóng · Bắt đầu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nội bộ, không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BHXH gov system.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 chính — Điều phối xe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phối xe · Sổ lệnh điều xe công ty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VehicleDispatch · 4 trạng thái (Đặt lịch / Đang dùng / Đã trả / Huỷ)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26-vehicledispatc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Tổng / Đang dùng /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lịch / Đã trả 7d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CRUD: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Điều xe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Biển số · Tài xế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Mục đích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Bắt đầu · Kết thúc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Datetime-local picker,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màu theo trạng.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TC-KT — Tạm ứng/Thanh toán/Hoàn ứng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Sổ tài chính · 3 loại GD · Lineage hoàn ứng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AdvanceTransaction · type TAM_UNG/THANH_TOAN/HOAN_UNG · status PENDING→APPROVED→SETTLED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27-advanc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Tổng GD / Tạm ứng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hoàn / Đã thanh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toán / Đã hoàn ứng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CRUD: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Tạm ứng/Thanh toán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Số phiếu · Người nhận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Số tiền · Mục đích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Gắn dự án (optional)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parentTxnId → lineage.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TC-KT — Bảng giao khoán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giao khoán cho đơn vị · Khoán gọn theo DA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ContractorAssignment · phạm vi + giá trị + tiến độ + mốc bàn giao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28-contractorassig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Project-scoped (FK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+ requireProject).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Tổng / Đang khoán /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trị / TB % HT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CRUD: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Giao khoán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Tên ĐV · Phạm vi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Giá trị · NgàyBắt/Kết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% HT · Trạng thái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PTTT — Địa bàn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Địa bàn · Phân vùng phát triển thị trường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MarketTerritory · tỉnh trọng tâm + người phụ trách (chủ địa bàn) + count leads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29-territori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Tổng / Hoạt động /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chủ ĐB / Tổng leads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CRUD: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Thêm địa bàn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Tên · Tỉnh · Phạm vi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có territoryId FK →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địa bàn cho BD planning.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PTTT — Dự án đang theo &amp; tiềm năng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cơ hội · Tiềm năng → Đang theo → Trúng / Không trúng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ProjectLead · 5 status (POTENTIAL/TRACKING/WON/LOST/ARCHIVED) · pipeline value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7863840" cy="466344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0" descr="/Users/vsf-thuynt519-l/Documents/GitHub/atlas-aec/docs/demo-screens/30-lead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7772400" cy="4572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78240" y="1783080"/>
            <a:ext cx="29260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Tổng / Tiềm năng /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theo / Pipeline VND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CRUD: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Thêm cơ hội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Tên · Khách hàng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Tỉnh · Giá trị dự kiến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Nguồn · Next action</a:t>
            </a:r>
            <a:endParaRPr lang="en-US" sz="1300" dirty="0"/>
          </a:p>
          <a:p>
            <a:pPr>
              <a:spcAft>
                <a:spcPts val="600"/>
              </a:spcAft>
            </a:pP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→ chuyển thành</a:t>
            </a:r>
            <a:endParaRPr lang="en-US" sz="1300" dirty="0"/>
          </a:p>
          <a:p>
            <a:pPr>
              <a:spcAft>
                <a:spcPts val="600"/>
              </a:spcAft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chính thức.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atlas-aec · v2 · live demo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66160" y="3566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evidence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8136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AEC · v2 shipped 19/05/2026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gate đều tự re-run được — không phải lời hứa, là làm rồi.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194560"/>
            <a:ext cx="3657600" cy="128016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194560"/>
            <a:ext cx="73152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40080" y="27889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typecheck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063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typecheck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51960" y="2194560"/>
            <a:ext cx="3657600" cy="128016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51960" y="2194560"/>
            <a:ext cx="73152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480560" y="27889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apps lint clean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3063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lint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92440" y="2194560"/>
            <a:ext cx="3657600" cy="128016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92440" y="2194560"/>
            <a:ext cx="73152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321040" y="27889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FSM tests pass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21040" y="3063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test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3657600"/>
            <a:ext cx="3657600" cy="128016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657600"/>
            <a:ext cx="73152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794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routes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40080" y="42519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build OK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4526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build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51960" y="3657600"/>
            <a:ext cx="3657600" cy="128016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51960" y="3657600"/>
            <a:ext cx="73152" cy="128016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0" y="3794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models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480560" y="42519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schema applied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480560" y="4526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pnpm db:push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092440" y="3657600"/>
            <a:ext cx="3657600" cy="1280160"/>
          </a:xfrm>
          <a:prstGeom prst="rect">
            <a:avLst/>
          </a:prstGeom>
          <a:solidFill>
            <a:srgbClr val="111A30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92440" y="3657600"/>
            <a:ext cx="73152" cy="128016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0" y="3794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PNGs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8321040" y="42519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screenshots regenerated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321040" y="4526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tsx scripts/capture-demo.ts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5029200"/>
            <a:ext cx="11064240" cy="914400"/>
          </a:xfrm>
          <a:prstGeom prst="rect">
            <a:avLst/>
          </a:prstGeom>
          <a:solidFill>
            <a:srgbClr val="111A30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5074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demo bất kỳ lúc nào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77240" y="53949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http://localhost:3000/demo.html  ·  docs/DEMO.md  ·  docs/Atlas-AEC-Demo.pptx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credentials: anh.nguyen@cofico.vn / demo1234! — đăng nhập, click 6 tabs, mọi thứ là live data từ Postgres.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AEC — v2 Demo</dc:title>
  <dc:subject>Live walkthrough of Layer 1 (6 modules) + Trust + Pricing</dc:subject>
  <dc:creator>Atlas AEC</dc:creator>
  <cp:lastModifiedBy>Atlas AEC</cp:lastModifiedBy>
  <cp:revision>1</cp:revision>
  <dcterms:created xsi:type="dcterms:W3CDTF">2026-05-30T17:03:17Z</dcterms:created>
  <dcterms:modified xsi:type="dcterms:W3CDTF">2026-05-30T17:03:17Z</dcterms:modified>
</cp:coreProperties>
</file>